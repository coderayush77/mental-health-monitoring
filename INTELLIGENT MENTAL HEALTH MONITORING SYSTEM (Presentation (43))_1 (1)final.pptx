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8" r:id="rId27"/>
    <p:sldId id="289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753600" cy="7315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6121E7E-E8FB-4F67-A943-302B2CB353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30E3A1F8-AD97-440D-B95A-01DACDE85D6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2ac486b19_0_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g3f2ac486b19_0_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10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1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1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1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p1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1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1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1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19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2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5" name="Google Shape;275;p2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4" name="Google Shape;284;p2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3" name="Google Shape;293;p2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7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28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29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4" name="Google Shape;334;p30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31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1" name="Google Shape;351;p32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" name="Google Shape;360;p33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0" name="Google Shape;370;p34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0" name="Google Shape;380;p35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9" name="Google Shape;389;p36:notes"/>
          <p:cNvSpPr/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datacamp.com/blog/classification-machine-learning" TargetMode="External"/><Relationship Id="rId1" Type="http://schemas.openxmlformats.org/officeDocument/2006/relationships/hyperlink" Target="https://kms-technology.com/blog/the-complete-guide-to-mental-health-app-development-in-2026/" TargetMode="Externa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3972620" y="1501902"/>
            <a:ext cx="1808322" cy="1730883"/>
          </a:xfrm>
          <a:custGeom>
            <a:avLst/>
            <a:gdLst/>
            <a:ahLst/>
            <a:cxnLst/>
            <a:rect l="l" t="t" r="r" b="b"/>
            <a:pathLst>
              <a:path w="2411095" h="2307844" extrusionOk="0">
                <a:moveTo>
                  <a:pt x="0" y="0"/>
                </a:moveTo>
                <a:lnTo>
                  <a:pt x="2411095" y="0"/>
                </a:lnTo>
                <a:lnTo>
                  <a:pt x="2411095" y="2307844"/>
                </a:lnTo>
                <a:lnTo>
                  <a:pt x="0" y="2307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 t="-139" r="-2" b="-139"/>
            </a:stretch>
          </a:blipFill>
          <a:ln>
            <a:noFill/>
          </a:ln>
        </p:spPr>
      </p:sp>
      <p:sp>
        <p:nvSpPr>
          <p:cNvPr id="89" name="Google Shape;89;p13"/>
          <p:cNvSpPr txBox="1"/>
          <p:nvPr/>
        </p:nvSpPr>
        <p:spPr>
          <a:xfrm>
            <a:off x="-655800" y="5162975"/>
            <a:ext cx="5265000" cy="24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Presented By:  </a:t>
            </a:r>
            <a:endParaRPr lang="en-US" sz="171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Abhipsa Nepal   - KAT080BCT006</a:t>
            </a:r>
            <a:endParaRPr lang="en-US" sz="171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Abisha Dhungel   - KAT080BCT007</a:t>
            </a:r>
            <a:endParaRPr lang="en-US" sz="171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Anushesh Ghimire - KAT080BCT016</a:t>
            </a:r>
            <a:endParaRPr lang="en-US" sz="171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Ayush Gyawali    - KAT080BCT023</a:t>
            </a:r>
            <a:endParaRPr lang="en-US" sz="171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1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</a:t>
            </a:r>
            <a:endParaRPr lang="en-US" sz="171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9022080" y="6469380"/>
            <a:ext cx="152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268161" y="122387"/>
            <a:ext cx="3549071" cy="128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Tribhuvan University</a:t>
            </a:r>
            <a:endParaRPr lang="en-US" sz="174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Institute Of Engineering</a:t>
            </a:r>
            <a:endParaRPr lang="en-US" sz="174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Kathmandu Engineering College</a:t>
            </a:r>
            <a:endParaRPr lang="en-US" sz="174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Kalimati, Kathmandu</a:t>
            </a:r>
            <a:endParaRPr lang="en-US" sz="174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207557" y="3335022"/>
            <a:ext cx="6143183" cy="1627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Minor Project </a:t>
            </a:r>
            <a:endParaRPr lang="en-US" sz="187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Mid report Defense </a:t>
            </a:r>
            <a:endParaRPr lang="en-US" sz="187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</a:t>
            </a:r>
            <a:endParaRPr lang="en-US" sz="187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INTELLIGENT MENTAL HEALTH MONITORING SYSTEM</a:t>
            </a:r>
            <a:endParaRPr lang="en-US" sz="1875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897807" y="6442974"/>
            <a:ext cx="25392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Date: Asadh 15, 208</a:t>
            </a:r>
            <a:r>
              <a:rPr lang="en-US" sz="2075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endParaRPr lang="en-US" sz="2075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57200" y="268617"/>
            <a:ext cx="6868382" cy="1744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1: INTRODUCTION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034780" y="6469380"/>
            <a:ext cx="12700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16817" y="1565806"/>
            <a:ext cx="9319967" cy="351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1175" marR="0" lvl="2" indent="-17018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5"/>
              <a:buFont typeface="Arial" panose="020B0604020202020204"/>
              <a:buChar char="⚬"/>
            </a:pPr>
            <a:r>
              <a:rPr lang="en-US" sz="223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Mental health issues evolve gradually and are often detected late</a:t>
            </a:r>
            <a:endParaRPr lang="en-US" sz="223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5460" marR="0" lvl="2" indent="-16827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1"/>
              <a:buFont typeface="Arial" panose="020B0604020202020204"/>
              <a:buChar char="⚬"/>
            </a:pPr>
            <a:r>
              <a:rPr lang="en-US" sz="221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Traditional assessments are episodic and reactive</a:t>
            </a:r>
            <a:endParaRPr lang="en-US" sz="221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5460" marR="0" lvl="2" indent="-16827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1"/>
              <a:buFont typeface="Arial" panose="020B0604020202020204"/>
              <a:buChar char="⚬"/>
            </a:pPr>
            <a:r>
              <a:rPr lang="en-US" sz="221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Daily digital text (journals, reflections) is a rich but underutilized data source</a:t>
            </a:r>
            <a:endParaRPr lang="en-US" sz="221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1175" marR="0" lvl="2" indent="-17018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5"/>
              <a:buFont typeface="Arial" panose="020B0604020202020204"/>
              <a:buChar char="⚬"/>
            </a:pPr>
            <a:r>
              <a:rPr lang="en-US" sz="223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AI enables continuous, non-intrusive mental state monitoring</a:t>
            </a:r>
            <a:endParaRPr lang="en-US" sz="223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3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3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3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33400" y="1027325"/>
            <a:ext cx="3551368" cy="53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1.1 Background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33406" y="4022647"/>
            <a:ext cx="47910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1.1.1 Natural Language Processing </a:t>
            </a:r>
            <a:endParaRPr lang="en-US" sz="25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660" y="4303666"/>
            <a:ext cx="91227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8850" marR="0" lvl="2" indent="-31940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Branch of Artificial Intelligence (AI) that understands human language.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58850" marR="0" lvl="2" indent="-31940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Converts unstructured text into meaningful information.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58850" marR="0" lvl="2" indent="-31940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Performs text preprocessing (tokenization, stop-word removal, etc.).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58850" marR="0" lvl="2" indent="-31940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Widely used in chatbots, translation, and sentiment analysis.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58850" marR="0" lvl="2" indent="-31940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our system, it processes users' journal entries for analysis.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22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-76200" y="263926"/>
            <a:ext cx="6868382" cy="1744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1: INTRODUCTION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9034780" y="6469380"/>
            <a:ext cx="12700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44760" y="1299754"/>
            <a:ext cx="9101400" cy="47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1.1.2 Sentiment Analysis</a:t>
            </a:r>
            <a:endParaRPr lang="en-US" sz="25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508000" marR="0" lvl="2" indent="-16954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Technique that identifies emotions from text.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8000" marR="0" lvl="2" indent="-16954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Classifies text as positive, negative, or neutral.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8000" marR="0" lvl="2" indent="-16954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Measures emotional intensity using sentiment scores.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8000" marR="0" lvl="2" indent="-16954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Our system uses VADER, a lexicon- and rule-based sentiment analysis tool.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8000" marR="0" lvl="2" indent="-16954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Generates positive, negative, neutral, and compound scores to assess users' emotional state.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8000" marR="0" lvl="2" indent="-2794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 panose="020B0604020202020204"/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176460" y="304800"/>
            <a:ext cx="6859981" cy="172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5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1: INTRODUCTION</a:t>
            </a:r>
            <a:endParaRPr lang="en-US" sz="3295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95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95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9034780" y="6469380"/>
            <a:ext cx="12700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33400" y="1066800"/>
            <a:ext cx="4785893" cy="53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1.2 Problem Statement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98875" y="1903863"/>
            <a:ext cx="7580100" cy="40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07365" marR="0" lvl="2" indent="-16891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systems fail to detect early-stage stress patterns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7365" marR="0" lvl="2" indent="-16891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Journaling data is rarely analyzed intelligently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7365" marR="0" lvl="2" indent="-16891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Lack of integrated platforms combining: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7365" marR="0" lvl="2" indent="-16891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Emotional analysis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7365" marR="0" lvl="2" indent="-16891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Trend visualization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7365" marR="0" lvl="2" indent="-16891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Personalized guidance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7365" marR="0" lvl="2" indent="-2794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 panose="020B0604020202020204"/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33400" y="219075"/>
            <a:ext cx="6868382" cy="185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1: INTRODUCTION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9034780" y="6469380"/>
            <a:ext cx="12700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33400" y="1143000"/>
            <a:ext cx="4785893" cy="53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1.3 Objectives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176460" y="1830829"/>
            <a:ext cx="9577200" cy="21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79425" marR="0" lvl="1" indent="-23939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•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develop an intelligent mental health monitoring system that analyzes user-generated textual data using Natural Language Processing (NLP) and Machine Learning (ML) techniques to detect stress levels and provide meaningful</a:t>
            </a:r>
            <a:r>
              <a:rPr lang="en-US"/>
              <a:t> </a:t>
            </a: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insights and recommendations.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6" name="Google Shape;136;p18"/>
          <p:cNvGrpSpPr/>
          <p:nvPr/>
        </p:nvGrpSpPr>
        <p:grpSpPr>
          <a:xfrm>
            <a:off x="-1219200" y="-177041"/>
            <a:ext cx="8388935" cy="2293342"/>
            <a:chOff x="-3966453" y="-642455"/>
            <a:chExt cx="11185246" cy="3057790"/>
          </a:xfrm>
        </p:grpSpPr>
        <p:sp>
          <p:nvSpPr>
            <p:cNvPr id="137" name="Google Shape;137;p18"/>
            <p:cNvSpPr/>
            <p:nvPr/>
          </p:nvSpPr>
          <p:spPr>
            <a:xfrm>
              <a:off x="-3966453" y="-642455"/>
              <a:ext cx="9157843" cy="2359659"/>
            </a:xfrm>
            <a:custGeom>
              <a:avLst/>
              <a:gdLst/>
              <a:ahLst/>
              <a:cxnLst/>
              <a:rect l="l" t="t" r="r" b="b"/>
              <a:pathLst>
                <a:path w="9157843" h="2359660" extrusionOk="0">
                  <a:moveTo>
                    <a:pt x="0" y="0"/>
                  </a:moveTo>
                  <a:lnTo>
                    <a:pt x="9157843" y="0"/>
                  </a:lnTo>
                  <a:lnTo>
                    <a:pt x="9157843" y="2359660"/>
                  </a:lnTo>
                  <a:lnTo>
                    <a:pt x="0" y="2359660"/>
                  </a:lnTo>
                  <a:close/>
                </a:path>
              </a:pathLst>
            </a:custGeom>
            <a:blipFill rotWithShape="1">
              <a:blip r:embed="rId1">
                <a:alphaModFix amt="0"/>
              </a:blip>
              <a:stretch>
                <a:fillRect t="-25622" b="-25620"/>
              </a:stretch>
            </a:blipFill>
            <a:ln>
              <a:noFill/>
            </a:ln>
          </p:spPr>
        </p:sp>
        <p:sp>
          <p:nvSpPr>
            <p:cNvPr id="138" name="Google Shape;138;p18"/>
            <p:cNvSpPr txBox="1"/>
            <p:nvPr/>
          </p:nvSpPr>
          <p:spPr>
            <a:xfrm>
              <a:off x="-1939050" y="-30012"/>
              <a:ext cx="9157843" cy="24453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1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CHAPTER 1: INTRODUCTION</a:t>
              </a:r>
              <a:endPara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9" name="Google Shape;139;p18"/>
          <p:cNvSpPr txBox="1"/>
          <p:nvPr/>
        </p:nvSpPr>
        <p:spPr>
          <a:xfrm>
            <a:off x="9034780" y="6469380"/>
            <a:ext cx="12700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326273" y="1113458"/>
            <a:ext cx="6339859" cy="53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1.4  Scope And Applications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195491" y="2583714"/>
            <a:ext cx="9558109" cy="306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07365" marR="0" lvl="2" indent="-16891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Supports personal mental health monitoring through mood logging and journaling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7365" marR="0" lvl="2" indent="-16891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Analyzes stress and emotional states using ML and NLP techniques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7365" marR="0" lvl="2" indent="-16891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Provides chatbot-based interaction for self-reflection and awareness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7365" marR="0" lvl="2" indent="-16891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Ensures user privacy and focuses on awareness, not medical treatment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7365" marR="0" lvl="2" indent="-1689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326273" y="1820494"/>
            <a:ext cx="6339859" cy="53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1.4.1  Scope 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176460" y="982447"/>
            <a:ext cx="1054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609600" y="219075"/>
            <a:ext cx="8965200" cy="19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1: </a:t>
            </a:r>
            <a:r>
              <a:rPr lang="en-US" sz="3300" b="1">
                <a:latin typeface="Times"/>
                <a:ea typeface="Times"/>
                <a:cs typeface="Times"/>
                <a:sym typeface="Times"/>
              </a:rPr>
              <a:t>LITERATURE REVIEW</a:t>
            </a:r>
            <a:endParaRPr lang="en-US" sz="3300" b="1"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9034780" y="6469380"/>
            <a:ext cx="12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381000" y="1066800"/>
            <a:ext cx="6339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1.4  Scope And Applications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381000" y="1752600"/>
            <a:ext cx="6339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1.4.2  Applications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457200" y="2524125"/>
            <a:ext cx="5695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7160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19"/>
          <p:cNvSpPr txBox="1"/>
          <p:nvPr/>
        </p:nvSpPr>
        <p:spPr>
          <a:xfrm>
            <a:off x="609600" y="2524125"/>
            <a:ext cx="4584600" cy="23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91820" lvl="2" indent="-1974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Char char="⚬"/>
            </a:pPr>
            <a:r>
              <a:rPr lang="en-US" sz="222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Personal Mental Health Tracking</a:t>
            </a:r>
            <a:endParaRPr>
              <a:solidFill>
                <a:schemeClr val="dk1"/>
              </a:solidFill>
            </a:endParaRPr>
          </a:p>
          <a:p>
            <a:pPr marL="591820" lvl="2" indent="-1974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Char char="⚬"/>
            </a:pPr>
            <a:r>
              <a:rPr lang="en-US" sz="222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Self-Reflection and Journaling</a:t>
            </a:r>
            <a:endParaRPr>
              <a:solidFill>
                <a:schemeClr val="dk1"/>
              </a:solidFill>
            </a:endParaRPr>
          </a:p>
          <a:p>
            <a:pPr marL="591820" lvl="2" indent="-1974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Char char="⚬"/>
            </a:pPr>
            <a:r>
              <a:rPr lang="en-US" sz="222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Mental Health Awareness</a:t>
            </a:r>
            <a:endParaRPr>
              <a:solidFill>
                <a:schemeClr val="dk1"/>
              </a:solidFill>
            </a:endParaRPr>
          </a:p>
          <a:p>
            <a:pPr marL="591820" lvl="2" indent="-1974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Char char="⚬"/>
            </a:pPr>
            <a:r>
              <a:rPr lang="en-US" sz="222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Student Support</a:t>
            </a:r>
            <a:endParaRPr lang="en-US" sz="222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/>
        </p:nvSpPr>
        <p:spPr>
          <a:xfrm>
            <a:off x="609600" y="219075"/>
            <a:ext cx="7516500" cy="19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1: </a:t>
            </a:r>
            <a:r>
              <a:rPr lang="en-US" sz="3300" b="1">
                <a:latin typeface="Times"/>
                <a:ea typeface="Times"/>
                <a:cs typeface="Times"/>
                <a:sym typeface="Times"/>
              </a:rPr>
              <a:t>LITERATURE REVIEW</a:t>
            </a:r>
            <a:endParaRPr lang="en-US" sz="3300" b="1"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9034780" y="6469380"/>
            <a:ext cx="12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-1067725" y="1922275"/>
            <a:ext cx="633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20"/>
          <p:cNvSpPr txBox="1"/>
          <p:nvPr/>
        </p:nvSpPr>
        <p:spPr>
          <a:xfrm>
            <a:off x="457200" y="2524125"/>
            <a:ext cx="5695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267738" y="1255888"/>
          <a:ext cx="9485875" cy="4868750"/>
        </p:xfrm>
        <a:graphic>
          <a:graphicData uri="http://schemas.openxmlformats.org/drawingml/2006/table">
            <a:tbl>
              <a:tblPr bandRow="1">
                <a:noFill/>
                <a:tableStyleId>{76121E7E-E8FB-4F67-A943-302B2CB3536C}</a:tableStyleId>
              </a:tblPr>
              <a:tblGrid>
                <a:gridCol w="2456675"/>
                <a:gridCol w="2047275"/>
                <a:gridCol w="2544150"/>
                <a:gridCol w="2437775"/>
              </a:tblGrid>
              <a:tr h="30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Author &amp; Year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Approach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Key Contribution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Limitation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</a:tr>
              <a:tr h="1328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Saha et al. (2019)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ML on social media text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Detected stress using linguistic features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 personalized continuous monitoring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</a:tr>
              <a:tr h="1617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Lin et al. (2020)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Deep Learning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User-level stress detection from social media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High computational complexity; less interpretable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</a:tr>
              <a:tr h="1617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Shah et al. (2024)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Random Forest + Questionnaire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Mobile mental health assistant for stress assessment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Relies mainly on questionnaire-based input</a:t>
                      </a:r>
                      <a:endParaRPr sz="16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/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569063" y="4950450"/>
            <a:ext cx="872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228600" y="326708"/>
            <a:ext cx="7592511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2: LITERATURE REVIEW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8971270" y="6469370"/>
            <a:ext cx="496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502300" y="902125"/>
            <a:ext cx="9753600" cy="29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2.1 Existing Systems</a:t>
            </a:r>
            <a:endParaRPr lang="en-US" sz="222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1485" marR="0" lvl="2" indent="-14097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Mood tracking applications : Daylio, Moodfit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1485" marR="0" lvl="2" indent="-14097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Journaling Platforms: Journey,Reflecty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1485" marR="0" lvl="2" indent="-14097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Chatbot-Based Systems: Wysa, Woebat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1485" marR="0" lvl="2" indent="-14097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Wellbeing Platforms: Headspace,Calm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609600" y="4088252"/>
            <a:ext cx="8361600" cy="38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2.2 Limitations of Previous Systems</a:t>
            </a:r>
            <a:endParaRPr lang="en-US" sz="222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1485" marR="0" lvl="2" indent="-14097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9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Manual mood tracking and rule based analytics.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1485" marR="0" lvl="2" indent="-14097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9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Limited analytics and personalized feedback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1485" marR="0" lvl="2" indent="-14097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9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Privacy concerns and dependence on consistent user engagement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1485" marR="0" lvl="2" indent="-14097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9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Few systems only integrate NLP and ML together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1485" marR="0" lvl="2" indent="-15049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1485" marR="0" lvl="2" indent="-15049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457200" y="357607"/>
            <a:ext cx="7592511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2: LITERATURE REVIEW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8971280" y="6469380"/>
            <a:ext cx="25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176460" y="1174433"/>
            <a:ext cx="9753600" cy="53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2.3 Solutions Provided by Our System</a:t>
            </a:r>
            <a:endParaRPr lang="en-US" sz="222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958850" marR="0" lvl="2" indent="-31940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Integrates journaling, mood tracking, wellness and chatbot support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58850" marR="0" lvl="2" indent="-31940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ML and NLP-based early stress detection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58850" marR="0" lvl="2" indent="-31940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User-friendly, privacy-focused mental health awareness platform with 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secure user data handling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58850" marR="0" lvl="2" indent="-31940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Simple self-help platform promoting mental well-being (not a medical    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diagnosis</a:t>
            </a:r>
            <a:r>
              <a:rPr lang="en-US" sz="222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lang="en-US" sz="222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58850" marR="0" lvl="2" indent="-31940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Provides analytical insights.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1485" marR="0" lvl="2" indent="-150495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76200" y="327164"/>
            <a:ext cx="6868382" cy="185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3: METHODOLOGY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533400" y="1066800"/>
            <a:ext cx="3605508" cy="53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3.1 PROCESS MODEL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8" name="Google Shape;188;p23"/>
          <p:cNvGrpSpPr/>
          <p:nvPr/>
        </p:nvGrpSpPr>
        <p:grpSpPr>
          <a:xfrm>
            <a:off x="342278" y="1481113"/>
            <a:ext cx="8629002" cy="4794526"/>
            <a:chOff x="0" y="-47625"/>
            <a:chExt cx="3195927" cy="1775751"/>
          </a:xfrm>
        </p:grpSpPr>
        <p:sp>
          <p:nvSpPr>
            <p:cNvPr id="189" name="Google Shape;189;p23"/>
            <p:cNvSpPr/>
            <p:nvPr/>
          </p:nvSpPr>
          <p:spPr>
            <a:xfrm>
              <a:off x="0" y="0"/>
              <a:ext cx="3195927" cy="1728126"/>
            </a:xfrm>
            <a:custGeom>
              <a:avLst/>
              <a:gdLst/>
              <a:ahLst/>
              <a:cxnLst/>
              <a:rect l="l" t="t" r="r" b="b"/>
              <a:pathLst>
                <a:path w="3195927" h="1728126" extrusionOk="0">
                  <a:moveTo>
                    <a:pt x="10766" y="0"/>
                  </a:moveTo>
                  <a:lnTo>
                    <a:pt x="3185160" y="0"/>
                  </a:lnTo>
                  <a:cubicBezTo>
                    <a:pt x="3191107" y="0"/>
                    <a:pt x="3195927" y="4820"/>
                    <a:pt x="3195927" y="10766"/>
                  </a:cubicBezTo>
                  <a:lnTo>
                    <a:pt x="3195927" y="1717359"/>
                  </a:lnTo>
                  <a:cubicBezTo>
                    <a:pt x="3195927" y="1723305"/>
                    <a:pt x="3191107" y="1728126"/>
                    <a:pt x="3185160" y="1728126"/>
                  </a:cubicBezTo>
                  <a:lnTo>
                    <a:pt x="10766" y="1728126"/>
                  </a:lnTo>
                  <a:cubicBezTo>
                    <a:pt x="4820" y="1728126"/>
                    <a:pt x="0" y="1723305"/>
                    <a:pt x="0" y="1717359"/>
                  </a:cubicBezTo>
                  <a:lnTo>
                    <a:pt x="0" y="10766"/>
                  </a:lnTo>
                  <a:cubicBezTo>
                    <a:pt x="0" y="4820"/>
                    <a:pt x="4820" y="0"/>
                    <a:pt x="107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190;p23"/>
            <p:cNvSpPr txBox="1"/>
            <p:nvPr/>
          </p:nvSpPr>
          <p:spPr>
            <a:xfrm>
              <a:off x="0" y="-47625"/>
              <a:ext cx="3195927" cy="17757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1" name="Google Shape;191;p23"/>
          <p:cNvSpPr/>
          <p:nvPr/>
        </p:nvSpPr>
        <p:spPr>
          <a:xfrm>
            <a:off x="1051767" y="1580167"/>
            <a:ext cx="7238536" cy="4970118"/>
          </a:xfrm>
          <a:custGeom>
            <a:avLst/>
            <a:gdLst/>
            <a:ahLst/>
            <a:cxnLst/>
            <a:rect l="l" t="t" r="r" b="b"/>
            <a:pathLst>
              <a:path w="7238536" h="4970118" extrusionOk="0">
                <a:moveTo>
                  <a:pt x="0" y="0"/>
                </a:moveTo>
                <a:lnTo>
                  <a:pt x="7238536" y="0"/>
                </a:lnTo>
                <a:lnTo>
                  <a:pt x="7238536" y="4970118"/>
                </a:lnTo>
                <a:lnTo>
                  <a:pt x="0" y="49701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 l="-211" r="-211" b="-39"/>
            </a:stretch>
          </a:blipFill>
          <a:ln>
            <a:noFill/>
          </a:ln>
        </p:spPr>
      </p:sp>
      <p:sp>
        <p:nvSpPr>
          <p:cNvPr id="192" name="Google Shape;192;p23"/>
          <p:cNvSpPr txBox="1"/>
          <p:nvPr/>
        </p:nvSpPr>
        <p:spPr>
          <a:xfrm>
            <a:off x="8971274" y="6469370"/>
            <a:ext cx="31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1873648" y="6643597"/>
            <a:ext cx="5795439" cy="329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Figure 3.1 Incremental Process Model</a:t>
            </a:r>
            <a:endParaRPr lang="en-US" sz="1700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152400" y="990600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0" y="300585"/>
            <a:ext cx="6868382" cy="185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3: METHODOLOGY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533400" y="1066800"/>
            <a:ext cx="3605508" cy="53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3.1 PROCESS MODEL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01" name="Google Shape;201;p24"/>
          <p:cNvGrpSpPr/>
          <p:nvPr/>
        </p:nvGrpSpPr>
        <p:grpSpPr>
          <a:xfrm>
            <a:off x="562299" y="1451580"/>
            <a:ext cx="8629002" cy="4794526"/>
            <a:chOff x="0" y="-47625"/>
            <a:chExt cx="3195927" cy="1775751"/>
          </a:xfrm>
        </p:grpSpPr>
        <p:sp>
          <p:nvSpPr>
            <p:cNvPr id="202" name="Google Shape;202;p24"/>
            <p:cNvSpPr/>
            <p:nvPr/>
          </p:nvSpPr>
          <p:spPr>
            <a:xfrm>
              <a:off x="0" y="0"/>
              <a:ext cx="3195927" cy="1728126"/>
            </a:xfrm>
            <a:custGeom>
              <a:avLst/>
              <a:gdLst/>
              <a:ahLst/>
              <a:cxnLst/>
              <a:rect l="l" t="t" r="r" b="b"/>
              <a:pathLst>
                <a:path w="3195927" h="1728126" extrusionOk="0">
                  <a:moveTo>
                    <a:pt x="10766" y="0"/>
                  </a:moveTo>
                  <a:lnTo>
                    <a:pt x="3185160" y="0"/>
                  </a:lnTo>
                  <a:cubicBezTo>
                    <a:pt x="3191107" y="0"/>
                    <a:pt x="3195927" y="4820"/>
                    <a:pt x="3195927" y="10766"/>
                  </a:cubicBezTo>
                  <a:lnTo>
                    <a:pt x="3195927" y="1717359"/>
                  </a:lnTo>
                  <a:cubicBezTo>
                    <a:pt x="3195927" y="1723305"/>
                    <a:pt x="3191107" y="1728126"/>
                    <a:pt x="3185160" y="1728126"/>
                  </a:cubicBezTo>
                  <a:lnTo>
                    <a:pt x="10766" y="1728126"/>
                  </a:lnTo>
                  <a:cubicBezTo>
                    <a:pt x="4820" y="1728126"/>
                    <a:pt x="0" y="1723305"/>
                    <a:pt x="0" y="1717359"/>
                  </a:cubicBezTo>
                  <a:lnTo>
                    <a:pt x="0" y="10766"/>
                  </a:lnTo>
                  <a:cubicBezTo>
                    <a:pt x="0" y="4820"/>
                    <a:pt x="4820" y="0"/>
                    <a:pt x="107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24"/>
            <p:cNvSpPr txBox="1"/>
            <p:nvPr/>
          </p:nvSpPr>
          <p:spPr>
            <a:xfrm>
              <a:off x="0" y="-47625"/>
              <a:ext cx="3195927" cy="17757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04" name="Google Shape;204;p24"/>
          <p:cNvSpPr txBox="1"/>
          <p:nvPr/>
        </p:nvSpPr>
        <p:spPr>
          <a:xfrm>
            <a:off x="8971273" y="6469370"/>
            <a:ext cx="35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562299" y="1900209"/>
            <a:ext cx="8856142" cy="347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Increment 1: User Registration and Journal Writing 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Increment 2: Chatbot Design 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Increment 3: Sentiment Analysis Implementation (Backend Development)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Increment 4: Database Integration and Score Management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Increment 5: Data Visualization and Mindfulness Suggestions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Final Integration and Deployment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-13764" y="152400"/>
            <a:ext cx="6868382" cy="183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3: METHODOLOGY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1282240" y="1662506"/>
            <a:ext cx="7232420" cy="4520262"/>
          </a:xfrm>
          <a:custGeom>
            <a:avLst/>
            <a:gdLst/>
            <a:ahLst/>
            <a:cxnLst/>
            <a:rect l="l" t="t" r="r" b="b"/>
            <a:pathLst>
              <a:path w="7232420" h="4520262" extrusionOk="0">
                <a:moveTo>
                  <a:pt x="0" y="0"/>
                </a:moveTo>
                <a:lnTo>
                  <a:pt x="7232419" y="0"/>
                </a:lnTo>
                <a:lnTo>
                  <a:pt x="7232419" y="4520262"/>
                </a:lnTo>
                <a:lnTo>
                  <a:pt x="0" y="4520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213" name="Google Shape;213;p25"/>
          <p:cNvSpPr txBox="1"/>
          <p:nvPr/>
        </p:nvSpPr>
        <p:spPr>
          <a:xfrm>
            <a:off x="8971275" y="6469372"/>
            <a:ext cx="406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501600" y="953874"/>
            <a:ext cx="3689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3.2 Block Diagram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2738561" y="6325464"/>
            <a:ext cx="4319778" cy="33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5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Figure 3.2 Block Diagram of the System</a:t>
            </a:r>
            <a:endParaRPr lang="en-US" sz="1785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76200" y="213374"/>
            <a:ext cx="6868382" cy="185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3: METHODOLOGY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9217030" y="6611700"/>
            <a:ext cx="46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597575" y="764325"/>
            <a:ext cx="3974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3.3 Algorithm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586800" y="1299750"/>
            <a:ext cx="8952300" cy="55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1: Start the system and initialize the database connection.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2: Collect user input through chatbot or journal entry.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3: Preprocess the text: convert to lowercase, remove stop words, and  eliminate special characters.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4: Apply VADER sentiment analysis to the preprocessed text to compute daily sentiment scores (positive, negative, neutral, compound).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5: Generate daily mood score from the sentiment scores.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6: Store the daily mood score and  user data into database for future analysis.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7: Retrieve stored mood data and perform statistical feature extraction: compute weekly average, variance, and mood trends using rule-based statistical methods.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8: Classify stress level using Random Forest with the extracted features as input.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9: Display mood trends and stress levels using graphs and charts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10: Generate recommendations for mindfulness or professional support based on stress classification.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STEP 11: End the process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157036" y="152400"/>
            <a:ext cx="6868382" cy="185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3: METHODOLOGY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8971275" y="6459875"/>
            <a:ext cx="38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609600" y="990600"/>
            <a:ext cx="3974430" cy="53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3.3 Algorithm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609600" y="1579200"/>
            <a:ext cx="8840100" cy="6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3.3.1 VADER (Valence Aware Dictionary and Sentiment Reasoner)</a:t>
            </a:r>
            <a:endParaRPr lang="en-US" sz="25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268605" marR="0" lvl="1" indent="-1416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5"/>
              <a:buFont typeface="Arial" panose="020B0604020202020204"/>
              <a:buChar char="•"/>
            </a:pPr>
            <a:r>
              <a:rPr lang="en-US" sz="222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Lexicon and rule-based sentiment analysis technique designed for social and textual data</a:t>
            </a:r>
            <a:endParaRPr lang="en-US" sz="222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8605" marR="0" lvl="1" indent="-13398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8605" marR="0" lvl="1" indent="-1416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5"/>
              <a:buFont typeface="Arial" panose="020B0604020202020204"/>
              <a:buChar char="•"/>
            </a:pPr>
            <a:r>
              <a:rPr lang="en-US" sz="222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Assigns sentiment scores as positive, negative, neutral, and compound</a:t>
            </a:r>
            <a:endParaRPr lang="en-US" sz="222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8605" marR="0" lvl="1" indent="-13398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8605" marR="0" lvl="1" indent="-1416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5"/>
              <a:buFont typeface="Arial" panose="020B0604020202020204"/>
              <a:buChar char="•"/>
            </a:pPr>
            <a:r>
              <a:rPr lang="en-US" sz="222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Effectively captures emotional intensity, punctuation, capitalization, and negations</a:t>
            </a:r>
            <a:endParaRPr lang="en-US" sz="222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8605" marR="0" lvl="1" indent="-13398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8605" marR="0" lvl="1" indent="-1416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5"/>
              <a:buFont typeface="Arial" panose="020B0604020202020204"/>
              <a:buChar char="•"/>
            </a:pPr>
            <a:r>
              <a:rPr lang="en-US" sz="222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Well-suited for analyzing daily journal entries and reflections</a:t>
            </a:r>
            <a:endParaRPr lang="en-US" sz="222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8605" marR="0" lvl="1" indent="-13398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8605" marR="0" lvl="1" indent="-1416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5"/>
              <a:buFont typeface="Arial" panose="020B0604020202020204"/>
              <a:buChar char="•"/>
            </a:pPr>
            <a:r>
              <a:rPr lang="en-US" sz="222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Lightweight, fast, and does not require training data</a:t>
            </a:r>
            <a:endParaRPr lang="en-US" sz="222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8605" marR="0" lvl="1" indent="-13398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152400" y="152400"/>
            <a:ext cx="6868382" cy="185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3: METHODOLOGY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8971275" y="6469371"/>
            <a:ext cx="38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609600" y="990600"/>
            <a:ext cx="3974430" cy="53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3.3 Algorithm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701050" y="1712600"/>
            <a:ext cx="8270100" cy="57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3.3.2 Random Forest Algorithm</a:t>
            </a:r>
            <a:endParaRPr lang="en-US" sz="25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267970" marR="0" lvl="1" indent="-14097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•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 ensemble machine learning algorithm based on multiple decision trees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7970" marR="0" lvl="1" indent="-13398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7970" marR="0" lvl="1" indent="-14097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•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Improves accuracy by combining predictions from many trees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7970" marR="0" lvl="1" indent="-13398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7970" marR="0" lvl="1" indent="-14097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•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Handles high-dimensional and non-linear data efficiently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7970" marR="0" lvl="1" indent="-13398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7970" marR="0" lvl="1" indent="-14097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•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Reduces overfitting compared to single decision tree models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7970" marR="0" lvl="1" indent="-13398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7970" marR="0" lvl="1" indent="-14097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•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Used to classify stress levels based on extracted sentiment and linguistic</a:t>
            </a:r>
            <a:r>
              <a:rPr lang="en-US" sz="222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features.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67970" marR="0" lvl="1" indent="-13398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29"/>
          <p:cNvSpPr txBox="1"/>
          <p:nvPr/>
        </p:nvSpPr>
        <p:spPr>
          <a:xfrm>
            <a:off x="-76200" y="213374"/>
            <a:ext cx="6868500" cy="15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269775" y="213375"/>
            <a:ext cx="3974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3.4 Flowchart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2693875" y="213375"/>
            <a:ext cx="5106807" cy="6767585"/>
          </a:xfrm>
          <a:custGeom>
            <a:avLst/>
            <a:gdLst/>
            <a:ahLst/>
            <a:cxnLst/>
            <a:rect l="l" t="t" r="r" b="b"/>
            <a:pathLst>
              <a:path w="3137823" h="5747418" extrusionOk="0">
                <a:moveTo>
                  <a:pt x="0" y="0"/>
                </a:moveTo>
                <a:lnTo>
                  <a:pt x="3137824" y="0"/>
                </a:lnTo>
                <a:lnTo>
                  <a:pt x="3137824" y="5747418"/>
                </a:lnTo>
                <a:lnTo>
                  <a:pt x="0" y="5747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 l="-1515" r="-1515"/>
            </a:stretch>
          </a:blipFill>
          <a:ln>
            <a:noFill/>
          </a:ln>
        </p:spPr>
      </p:sp>
      <p:sp>
        <p:nvSpPr>
          <p:cNvPr id="251" name="Google Shape;251;p29"/>
          <p:cNvSpPr txBox="1"/>
          <p:nvPr/>
        </p:nvSpPr>
        <p:spPr>
          <a:xfrm>
            <a:off x="9078600" y="6673148"/>
            <a:ext cx="67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2940573" y="6979730"/>
            <a:ext cx="45093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5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Figure 3.4 System Flowchart </a:t>
            </a:r>
            <a:endParaRPr lang="en-US" sz="1785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/>
          <p:nvPr/>
        </p:nvSpPr>
        <p:spPr>
          <a:xfrm>
            <a:off x="1787928" y="2238785"/>
            <a:ext cx="7113365" cy="4170236"/>
          </a:xfrm>
          <a:custGeom>
            <a:avLst/>
            <a:gdLst/>
            <a:ahLst/>
            <a:cxnLst/>
            <a:rect l="l" t="t" r="r" b="b"/>
            <a:pathLst>
              <a:path w="9484487" h="5560314" extrusionOk="0">
                <a:moveTo>
                  <a:pt x="0" y="0"/>
                </a:moveTo>
                <a:lnTo>
                  <a:pt x="9484487" y="0"/>
                </a:lnTo>
                <a:lnTo>
                  <a:pt x="9484487" y="5560314"/>
                </a:lnTo>
                <a:lnTo>
                  <a:pt x="0" y="5560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 l="-10" r="-10"/>
            </a:stretch>
          </a:blipFill>
          <a:ln>
            <a:noFill/>
          </a:ln>
        </p:spPr>
      </p:sp>
      <p:sp>
        <p:nvSpPr>
          <p:cNvPr id="258" name="Google Shape;258;p30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9" name="Google Shape;259;p30"/>
          <p:cNvSpPr txBox="1"/>
          <p:nvPr/>
        </p:nvSpPr>
        <p:spPr>
          <a:xfrm>
            <a:off x="0" y="217139"/>
            <a:ext cx="6868382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3: METHODOLOGY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0" name="Google Shape;260;p30"/>
          <p:cNvSpPr txBox="1"/>
          <p:nvPr/>
        </p:nvSpPr>
        <p:spPr>
          <a:xfrm>
            <a:off x="8901300" y="6880751"/>
            <a:ext cx="105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533400" y="990600"/>
            <a:ext cx="3974430" cy="57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3.5 UML  Diagram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2" name="Google Shape;262;p30"/>
          <p:cNvSpPr txBox="1"/>
          <p:nvPr/>
        </p:nvSpPr>
        <p:spPr>
          <a:xfrm>
            <a:off x="2362200" y="6428061"/>
            <a:ext cx="6066873" cy="649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5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Figure 3.5.1 Use Case Diagram of Intelligent Mental Health Monitoring System</a:t>
            </a:r>
            <a:endParaRPr lang="en-US" sz="1785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533400" y="1648884"/>
            <a:ext cx="3217962" cy="44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3.5.1 Use Case Diagram</a:t>
            </a:r>
            <a:endParaRPr lang="en-US" sz="25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9" name="Google Shape;269;p31"/>
          <p:cNvSpPr txBox="1"/>
          <p:nvPr/>
        </p:nvSpPr>
        <p:spPr>
          <a:xfrm>
            <a:off x="176460" y="187643"/>
            <a:ext cx="6868382" cy="185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3: METHODOLOGY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0" name="Google Shape;270;p31"/>
          <p:cNvSpPr txBox="1"/>
          <p:nvPr/>
        </p:nvSpPr>
        <p:spPr>
          <a:xfrm>
            <a:off x="8971275" y="6827096"/>
            <a:ext cx="69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19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1" name="Google Shape;271;p31"/>
          <p:cNvSpPr txBox="1"/>
          <p:nvPr/>
        </p:nvSpPr>
        <p:spPr>
          <a:xfrm>
            <a:off x="609600" y="990600"/>
            <a:ext cx="3974430" cy="5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3.7 Tools Used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381000" y="1533525"/>
            <a:ext cx="5128466" cy="552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Frontend (HTML, CSS, JavaScript )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Backend (Python &amp; Jupyter Notebook)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MongoDB &amp; Pymongo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Flask Server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Numpy and Pandas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NLTK &amp; VADER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Scikit-learn &amp; TF-IDF Vectorizer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MongoDB &amp; Pymongo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Jupyter Notebook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VS Code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5620" marR="0" lvl="2" indent="-17208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⚬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 &amp; GitHub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9120077" y="6901872"/>
            <a:ext cx="794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9" name="Google Shape;279;p32"/>
          <p:cNvSpPr txBox="1"/>
          <p:nvPr/>
        </p:nvSpPr>
        <p:spPr>
          <a:xfrm>
            <a:off x="381000" y="-17929"/>
            <a:ext cx="3974430" cy="5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3.7.1 APIS Used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80" name="Google Shape;280;p32"/>
          <p:cNvGraphicFramePr/>
          <p:nvPr/>
        </p:nvGraphicFramePr>
        <p:xfrm>
          <a:off x="1041850" y="859777"/>
          <a:ext cx="7942850" cy="6455375"/>
        </p:xfrm>
        <a:graphic>
          <a:graphicData uri="http://schemas.openxmlformats.org/drawingml/2006/table">
            <a:tbl>
              <a:tblPr>
                <a:noFill/>
                <a:tableStyleId>{30E3A1F8-AD97-440D-B95A-01DACDE85D6B}</a:tableStyleId>
              </a:tblPr>
              <a:tblGrid>
                <a:gridCol w="1625050"/>
                <a:gridCol w="1306625"/>
                <a:gridCol w="2055275"/>
                <a:gridCol w="2955900"/>
              </a:tblGrid>
              <a:tr h="397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       Module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Method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Endpoint URL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Description / Scope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3875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Authentication         (routes/auth.py)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POST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/api/signup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Registers a profile, hashes password, generates tags.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27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POST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/api/login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Validates hashed credentials to authorize login session.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27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           POST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/api/login_with_google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Single Sign-On federation check &amp; profile  match.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270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Journaling System (routes/journal.py)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POST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/api/journal/create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Extracts AI metrics, encrypts via Fernet, saves to database.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27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GET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/api/journal/&lt;email&gt;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Fetches entry history,decrypting fields dynamically in RAM.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270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Dashboard &amp; Streaks (routes/dashboard.py)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GET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/api/dashboard/checkin/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status/&lt;email&gt;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Validates active date stamps to issue dynamic UI action gates.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595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POST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/api/dashboard/checkin/confirm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Commits completion logs and increments active daily streak.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2700">
                <a:tc row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User Settings (routes/settings.py)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GET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/api/settings/&lt;email&gt;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Fetches profile options, themes, and notification toggles.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27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PUT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/api/settings/update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Updates core profile configuration metadata fields.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27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PUT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/api/settings/change-password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Safely matches and updates user security password.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27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DELETE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/api/settings/delete</a:t>
                      </a:r>
                      <a:endParaRPr lang="en-US" sz="100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Cascading profile and encrypted record data purge.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32"/>
          <p:cNvSpPr txBox="1"/>
          <p:nvPr/>
        </p:nvSpPr>
        <p:spPr>
          <a:xfrm>
            <a:off x="1828800" y="473070"/>
            <a:ext cx="2819400" cy="259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Table 1: Backend APIS</a:t>
            </a:r>
            <a:endParaRPr lang="en-US" sz="1590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-609600" y="360829"/>
            <a:ext cx="6868382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4: EPILOGUE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8" name="Google Shape;288;p33"/>
          <p:cNvSpPr txBox="1"/>
          <p:nvPr/>
        </p:nvSpPr>
        <p:spPr>
          <a:xfrm>
            <a:off x="8935500" y="6862850"/>
            <a:ext cx="71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9" name="Google Shape;289;p33"/>
          <p:cNvSpPr txBox="1"/>
          <p:nvPr/>
        </p:nvSpPr>
        <p:spPr>
          <a:xfrm>
            <a:off x="271067" y="801053"/>
            <a:ext cx="8553600" cy="6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29260" marR="0" lvl="1" indent="-21463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 panose="020B0604020202020204"/>
              <a:buChar char="•"/>
            </a:pPr>
            <a:r>
              <a:rPr lang="en-US" sz="198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Successfully designed the login and sign up pages with proper connection to the database</a:t>
            </a:r>
            <a:r>
              <a:rPr lang="en-US" sz="1985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lang="en-US" sz="1985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29260" marR="0" lvl="1" indent="-21463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 panose="020B0604020202020204"/>
              <a:buChar char="•"/>
            </a:pPr>
            <a:r>
              <a:rPr lang="en-US" sz="198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Added user profile, settings and designed a proper interactive dashboard.</a:t>
            </a:r>
            <a:endParaRPr lang="en-US" sz="198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29260" marR="0" lvl="1" indent="-21463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 panose="020B0604020202020204"/>
              <a:buChar char="•"/>
            </a:pPr>
            <a:r>
              <a:rPr lang="en-US" sz="198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Create journal,breathing, meditation pages and a proper help section including information about our project.</a:t>
            </a:r>
            <a:endParaRPr lang="en-US" sz="198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29260" marR="0" lvl="1" indent="-21463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 panose="020B0604020202020204"/>
              <a:buChar char="•"/>
            </a:pPr>
            <a:r>
              <a:rPr lang="en-US" sz="198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Developed backend logic for all successfully created pages.</a:t>
            </a:r>
            <a:endParaRPr lang="en-US" sz="198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29260" marR="0" lvl="1" indent="-21463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 panose="020B0604020202020204"/>
              <a:buChar char="•"/>
            </a:pPr>
            <a:r>
              <a:rPr lang="en-US" sz="198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Collected datasets and implemented text preprocessing techniques such as tokenization and cleaning of the datasets</a:t>
            </a:r>
            <a:endParaRPr lang="en-US" sz="198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29260" marR="0" lvl="1" indent="-21463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 panose="020B0604020202020204"/>
              <a:buChar char="•"/>
            </a:pPr>
            <a:r>
              <a:rPr lang="en-US" sz="1985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Successfully integrated machine learning–based sentiment analysis to generate sentiment scores from user text inputs.</a:t>
            </a:r>
            <a:endParaRPr lang="en-US" sz="198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8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0" name="Google Shape;290;p33"/>
          <p:cNvSpPr txBox="1"/>
          <p:nvPr/>
        </p:nvSpPr>
        <p:spPr>
          <a:xfrm>
            <a:off x="457200" y="1143000"/>
            <a:ext cx="3171131" cy="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4.1 Tasks Completed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Google Shape;295;p34"/>
          <p:cNvGraphicFramePr/>
          <p:nvPr/>
        </p:nvGraphicFramePr>
        <p:xfrm>
          <a:off x="1814910" y="1897262"/>
          <a:ext cx="6453925" cy="3000000"/>
        </p:xfrm>
        <a:graphic>
          <a:graphicData uri="http://schemas.openxmlformats.org/drawingml/2006/table">
            <a:tbl>
              <a:tblPr>
                <a:noFill/>
                <a:tableStyleId>{30E3A1F8-AD97-440D-B95A-01DACDE85D6B}</a:tableStyleId>
              </a:tblPr>
              <a:tblGrid>
                <a:gridCol w="1450325"/>
                <a:gridCol w="1250900"/>
                <a:gridCol w="1250900"/>
                <a:gridCol w="1250900"/>
                <a:gridCol w="1250900"/>
              </a:tblGrid>
              <a:tr h="420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Actual \ Predicted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Pred: Low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Pred: Medium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Pred: High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Pred: Extreme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Actual: Low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3023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72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65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Actual: Medium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1038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107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Actual: High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179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95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2246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559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Actual: Extreme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321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220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743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1661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96" name="Google Shape;296;p34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7" name="Google Shape;297;p34"/>
          <p:cNvSpPr txBox="1"/>
          <p:nvPr/>
        </p:nvSpPr>
        <p:spPr>
          <a:xfrm>
            <a:off x="-762000" y="266065"/>
            <a:ext cx="6868382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4: EPILOGUE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8" name="Google Shape;298;p34"/>
          <p:cNvSpPr txBox="1"/>
          <p:nvPr/>
        </p:nvSpPr>
        <p:spPr>
          <a:xfrm>
            <a:off x="8971200" y="6778950"/>
            <a:ext cx="78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9" name="Google Shape;299;p34"/>
          <p:cNvSpPr txBox="1"/>
          <p:nvPr/>
        </p:nvSpPr>
        <p:spPr>
          <a:xfrm>
            <a:off x="228600" y="890905"/>
            <a:ext cx="7565033" cy="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4.2 ML Classification Model Performance Results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0" name="Google Shape;300;p34"/>
          <p:cNvSpPr txBox="1"/>
          <p:nvPr/>
        </p:nvSpPr>
        <p:spPr>
          <a:xfrm>
            <a:off x="3312469" y="1479596"/>
            <a:ext cx="7532793" cy="559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Table 2: Confusion Matrix</a:t>
            </a:r>
            <a:endParaRPr lang="en-US" sz="1590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90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301" name="Google Shape;301;p34"/>
          <p:cNvGraphicFramePr/>
          <p:nvPr/>
        </p:nvGraphicFramePr>
        <p:xfrm>
          <a:off x="1956389" y="4599218"/>
          <a:ext cx="6121100" cy="3000000"/>
        </p:xfrm>
        <a:graphic>
          <a:graphicData uri="http://schemas.openxmlformats.org/drawingml/2006/table">
            <a:tbl>
              <a:tblPr>
                <a:noFill/>
                <a:tableStyleId>{30E3A1F8-AD97-440D-B95A-01DACDE85D6B}</a:tableStyleId>
              </a:tblPr>
              <a:tblGrid>
                <a:gridCol w="1132350"/>
                <a:gridCol w="1132350"/>
                <a:gridCol w="1132350"/>
                <a:gridCol w="1132350"/>
                <a:gridCol w="1591700"/>
              </a:tblGrid>
              <a:tr h="603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Class Tier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Precision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Recall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F1-Score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Support (Samples)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Low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0.83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0.93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0.88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3243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Medium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0.72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0.79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0.76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1311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High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0.71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0.72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3079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Extreme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0.71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0.56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0.63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65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2945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02" name="Google Shape;302;p34"/>
          <p:cNvSpPr txBox="1"/>
          <p:nvPr/>
        </p:nvSpPr>
        <p:spPr>
          <a:xfrm>
            <a:off x="3355415" y="4129263"/>
            <a:ext cx="7532793" cy="559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Table 3: Classification Report Metrics</a:t>
            </a:r>
            <a:endParaRPr lang="en-US" sz="1590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90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8" name="Google Shape;308;p35"/>
          <p:cNvSpPr txBox="1"/>
          <p:nvPr/>
        </p:nvSpPr>
        <p:spPr>
          <a:xfrm>
            <a:off x="-609600" y="179818"/>
            <a:ext cx="6868382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4: EPILOGUE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9" name="Google Shape;309;p35"/>
          <p:cNvSpPr txBox="1"/>
          <p:nvPr/>
        </p:nvSpPr>
        <p:spPr>
          <a:xfrm>
            <a:off x="8824775" y="6862875"/>
            <a:ext cx="92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0" name="Google Shape;310;p35"/>
          <p:cNvSpPr txBox="1"/>
          <p:nvPr/>
        </p:nvSpPr>
        <p:spPr>
          <a:xfrm>
            <a:off x="703807" y="953872"/>
            <a:ext cx="7565033" cy="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4.2 ML Classification Model Performance Results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1" name="Google Shape;311;p35"/>
          <p:cNvSpPr txBox="1"/>
          <p:nvPr/>
        </p:nvSpPr>
        <p:spPr>
          <a:xfrm>
            <a:off x="3004322" y="2152741"/>
            <a:ext cx="7532793" cy="28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Table 4: Summary Reports</a:t>
            </a:r>
            <a:endParaRPr lang="en-US" sz="1590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312" name="Google Shape;312;p35"/>
          <p:cNvGraphicFramePr/>
          <p:nvPr/>
        </p:nvGraphicFramePr>
        <p:xfrm>
          <a:off x="892175" y="2701290"/>
          <a:ext cx="7708900" cy="2556510"/>
        </p:xfrm>
        <a:graphic>
          <a:graphicData uri="http://schemas.openxmlformats.org/drawingml/2006/table">
            <a:tbl>
              <a:tblPr>
                <a:noFill/>
                <a:tableStyleId>{30E3A1F8-AD97-440D-B95A-01DACDE85D6B}</a:tableStyleId>
              </a:tblPr>
              <a:tblGrid>
                <a:gridCol w="1559560"/>
                <a:gridCol w="1421130"/>
                <a:gridCol w="1421765"/>
                <a:gridCol w="1422400"/>
                <a:gridCol w="1884045"/>
              </a:tblGrid>
              <a:tr h="52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Metric Scale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Precision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Recall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F1-Score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Total Support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Overall Accuracy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—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—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0.75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10578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Macro Average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0.74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0.75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0.75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10578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Weighted Average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0.75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0.75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0.75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1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10578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547370" y="1513205"/>
          <a:ext cx="8439150" cy="2569210"/>
        </p:xfrm>
        <a:graphic>
          <a:graphicData uri="http://schemas.openxmlformats.org/drawingml/2006/table">
            <a:tbl>
              <a:tblPr/>
              <a:tblGrid>
                <a:gridCol w="1687830"/>
                <a:gridCol w="1687830"/>
                <a:gridCol w="1687830"/>
                <a:gridCol w="1687830"/>
                <a:gridCol w="1687830"/>
              </a:tblGrid>
              <a:tr h="498475">
                <a:tc>
                  <a:txBody>
                    <a:bodyPr/>
                    <a:p>
                      <a:pPr marL="177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Stress Level</a:t>
                      </a:r>
                      <a:endParaRPr lang="en-US" altLang="zh-CN" sz="12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Precision</a:t>
                      </a:r>
                      <a:endParaRPr lang="en-US" altLang="zh-CN" sz="12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Recall</a:t>
                      </a:r>
                      <a:endParaRPr lang="en-US" altLang="zh-CN" sz="12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F1-Score</a:t>
                      </a:r>
                      <a:endParaRPr lang="en-US" altLang="zh-CN" sz="12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Arial" panose="020B0604020202020204"/>
                          <a:cs typeface="Times New Roman" panose="02020603050405020304" charset="0"/>
                        </a:rPr>
                        <a:t>Support</a:t>
                      </a:r>
                      <a:endParaRPr lang="en-US" altLang="zh-CN" sz="1000" b="1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charset="0"/>
                        <a:ea typeface="Arial" panose="020B0604020202020204"/>
                        <a:cs typeface="Times New Roman" panose="02020603050405020304" charset="0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7050">
                <a:tc>
                  <a:txBody>
                    <a:bodyPr/>
                    <a:p>
                      <a:pPr marL="177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Extreme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0.97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0.91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0.94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12,971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9905">
                <a:tc>
                  <a:txBody>
                    <a:bodyPr/>
                    <a:p>
                      <a:pPr marL="177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High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0.99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0.94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0.96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12,971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8955">
                <a:tc>
                  <a:txBody>
                    <a:bodyPr/>
                    <a:p>
                      <a:pPr marL="177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Medium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0.99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0.96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0.97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12,971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4825">
                <a:tc>
                  <a:txBody>
                    <a:bodyPr/>
                    <a:p>
                      <a:pPr marL="1778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Low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0.86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0.99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0.92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77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n>
                            <a:noFill/>
                          </a:ln>
                          <a:latin typeface="Arial" panose="020B0604020202020204"/>
                          <a:ea typeface="Arial" panose="020B0604020202020204"/>
                        </a:rPr>
                        <a:t>12,971</a:t>
                      </a:r>
                      <a:endParaRPr lang="en-US" altLang="zh-CN" sz="1100">
                        <a:ln>
                          <a:noFill/>
                        </a:ln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0800" marR="50800" marT="50800" marB="50800" anchor="t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Google Shape;313;p35"/>
          <p:cNvSpPr txBox="1"/>
          <p:nvPr/>
        </p:nvSpPr>
        <p:spPr>
          <a:xfrm>
            <a:off x="547370" y="420275"/>
            <a:ext cx="7363703" cy="58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15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4.3 Training Accuracy and report</a:t>
            </a:r>
            <a:endParaRPr lang="en-US" sz="2715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0715" y="4373245"/>
            <a:ext cx="7510780" cy="266319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spcBef>
                <a:spcPts val="800"/>
              </a:spcBef>
              <a:spcAft>
                <a:spcPts val="400"/>
              </a:spcAft>
            </a:pPr>
            <a:r>
              <a:rPr lang="en-US" altLang="zh-CN" sz="1900" b="1">
                <a:solidFill>
                  <a:srgbClr val="404040"/>
                </a:solidFill>
                <a:latin typeface="Arial" panose="020B0604020202020204"/>
                <a:ea typeface="Arial" panose="020B0604020202020204"/>
              </a:rPr>
              <a:t>Training Set Performance Insights:</a:t>
            </a:r>
            <a:endParaRPr lang="en-US" altLang="zh-CN" sz="1900" b="1">
              <a:solidFill>
                <a:srgbClr val="404040"/>
              </a:solidFill>
              <a:latin typeface="Arial" panose="020B0604020202020204"/>
              <a:ea typeface="Arial" panose="020B0604020202020204"/>
            </a:endParaRPr>
          </a:p>
          <a:p>
            <a:pPr marL="914400" indent="-228600" defTabSz="266700">
              <a:lnSpc>
                <a:spcPct val="116000"/>
              </a:lnSpc>
              <a:spcBef>
                <a:spcPct val="0"/>
              </a:spcBef>
              <a:spcAft>
                <a:spcPts val="400"/>
              </a:spcAft>
              <a:buFont typeface="Times New Roman" panose="02020603050405020304"/>
              <a:buChar char="•"/>
            </a:pPr>
            <a:r>
              <a:rPr lang="en-US" altLang="zh-CN" sz="1600" b="0">
                <a:latin typeface="Arial" panose="020B0604020202020204"/>
                <a:ea typeface="Arial" panose="020B0604020202020204"/>
              </a:rPr>
              <a:t>Medium Stress: Highest F1-Score (0.97) - Model excels at this class</a:t>
            </a:r>
            <a:endParaRPr lang="en-US" altLang="zh-CN" sz="1600" b="0">
              <a:latin typeface="Arial" panose="020B0604020202020204"/>
              <a:ea typeface="Arial" panose="020B0604020202020204"/>
            </a:endParaRPr>
          </a:p>
          <a:p>
            <a:pPr marL="914400" indent="-228600" defTabSz="266700">
              <a:lnSpc>
                <a:spcPct val="116000"/>
              </a:lnSpc>
              <a:spcBef>
                <a:spcPct val="0"/>
              </a:spcBef>
              <a:spcAft>
                <a:spcPts val="400"/>
              </a:spcAft>
              <a:buFont typeface="Times New Roman" panose="02020603050405020304"/>
              <a:buChar char="•"/>
            </a:pPr>
            <a:r>
              <a:rPr lang="en-US" altLang="zh-CN" sz="1600" b="0">
                <a:latin typeface="Arial" panose="020B0604020202020204"/>
                <a:ea typeface="Arial" panose="020B0604020202020204"/>
              </a:rPr>
              <a:t>High Stress: Excellent performance (0.96 F1) - Nearly 99% precision</a:t>
            </a:r>
            <a:endParaRPr lang="en-US" altLang="zh-CN" sz="1600" b="0">
              <a:latin typeface="Arial" panose="020B0604020202020204"/>
              <a:ea typeface="Arial" panose="020B0604020202020204"/>
            </a:endParaRPr>
          </a:p>
          <a:p>
            <a:pPr marL="914400" indent="-228600" defTabSz="266700">
              <a:lnSpc>
                <a:spcPct val="116000"/>
              </a:lnSpc>
              <a:spcBef>
                <a:spcPct val="0"/>
              </a:spcBef>
              <a:spcAft>
                <a:spcPts val="400"/>
              </a:spcAft>
              <a:buFont typeface="Times New Roman" panose="02020603050405020304"/>
              <a:buChar char="•"/>
            </a:pPr>
            <a:r>
              <a:rPr lang="en-US" altLang="zh-CN" sz="1600" b="0">
                <a:latin typeface="Arial" panose="020B0604020202020204"/>
                <a:ea typeface="Arial" panose="020B0604020202020204"/>
              </a:rPr>
              <a:t>Extreme Stress: Strong performance (0.94 F1) - 91% recall captures most cases</a:t>
            </a:r>
            <a:endParaRPr lang="en-US" altLang="zh-CN" sz="1600" b="0">
              <a:latin typeface="Arial" panose="020B0604020202020204"/>
              <a:ea typeface="Arial" panose="020B0604020202020204"/>
            </a:endParaRPr>
          </a:p>
          <a:p>
            <a:pPr marL="914400" indent="-228600" defTabSz="266700">
              <a:lnSpc>
                <a:spcPct val="116000"/>
              </a:lnSpc>
              <a:spcBef>
                <a:spcPct val="0"/>
              </a:spcBef>
              <a:spcAft>
                <a:spcPts val="600"/>
              </a:spcAft>
              <a:buFont typeface="Times New Roman" panose="02020603050405020304"/>
              <a:buChar char="•"/>
            </a:pPr>
            <a:r>
              <a:rPr lang="en-US" altLang="zh-CN" sz="1600" b="0">
                <a:latin typeface="Arial" panose="020B0604020202020204"/>
                <a:ea typeface="Arial" panose="020B0604020202020204"/>
              </a:rPr>
              <a:t>Low Stress: Good performance (0.92 F1) - Lowest precision (0.86) suggests some confusion with other classes</a:t>
            </a:r>
            <a:endParaRPr lang="en-US" altLang="zh-CN" sz="1600" b="0">
              <a:latin typeface="Arial" panose="020B0604020202020204"/>
              <a:ea typeface="Arial" panose="020B0604020202020204"/>
            </a:endParaRPr>
          </a:p>
          <a:p>
            <a:pPr marL="914400" indent="-228600" defTabSz="266700">
              <a:lnSpc>
                <a:spcPct val="116000"/>
              </a:lnSpc>
              <a:spcBef>
                <a:spcPct val="0"/>
              </a:spcBef>
              <a:spcAft>
                <a:spcPts val="600"/>
              </a:spcAft>
              <a:buFont typeface="Times New Roman" panose="02020603050405020304"/>
              <a:buChar char="•"/>
            </a:pPr>
            <a:r>
              <a:rPr lang="en-US" altLang="zh-CN" sz="1600" b="0">
                <a:latin typeface="Arial" panose="020B0604020202020204"/>
                <a:ea typeface="Arial" panose="020B0604020202020204"/>
              </a:rPr>
              <a:t>Overall accuracy: 94.82%</a:t>
            </a:r>
            <a:endParaRPr lang="en-US" altLang="zh-CN" sz="1600" b="0">
              <a:latin typeface="Arial" panose="020B0604020202020204"/>
              <a:ea typeface="Arial" panose="020B0604020202020204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2125420" y="1092058"/>
            <a:ext cx="7532793" cy="68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Table 5: Classification Report  on training dataset</a:t>
            </a:r>
            <a:endParaRPr lang="en-US" sz="1590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90" b="0" i="1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4" name="Google Shape;314;p35"/>
          <p:cNvSpPr txBox="1"/>
          <p:nvPr/>
        </p:nvSpPr>
        <p:spPr>
          <a:xfrm>
            <a:off x="630138" y="1189075"/>
            <a:ext cx="6564155" cy="148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79425" marR="0" lvl="1" indent="-23939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•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 of chatbot interface and its backend logic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9425" marR="0" lvl="1" indent="-23939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•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Final integration of the system.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9425" marR="0" lvl="1" indent="-23939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 panose="020B0604020202020204"/>
              <a:buChar char="•"/>
            </a:pPr>
            <a:r>
              <a:rPr lang="en-US" sz="222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Backend logic for the charts and graphs section.</a:t>
            </a:r>
            <a:endParaRPr lang="en-US"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3" name="Google Shape;313;p35"/>
          <p:cNvSpPr txBox="1"/>
          <p:nvPr/>
        </p:nvSpPr>
        <p:spPr>
          <a:xfrm>
            <a:off x="731520" y="410115"/>
            <a:ext cx="7363703" cy="58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15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4.3 Tasks Remaining</a:t>
            </a:r>
            <a:endParaRPr lang="en-US" sz="2715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0" name="Google Shape;320;p36"/>
          <p:cNvSpPr txBox="1"/>
          <p:nvPr/>
        </p:nvSpPr>
        <p:spPr>
          <a:xfrm>
            <a:off x="-762000" y="252208"/>
            <a:ext cx="6868382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CHAPTER 4: EPILOGUE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1" name="Google Shape;321;p36"/>
          <p:cNvSpPr txBox="1"/>
          <p:nvPr/>
        </p:nvSpPr>
        <p:spPr>
          <a:xfrm>
            <a:off x="-243115" y="1223543"/>
            <a:ext cx="3821621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4.4 Gantt Chart</a:t>
            </a:r>
            <a:endParaRPr lang="en-US"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2" name="Google Shape;322;p36"/>
          <p:cNvSpPr txBox="1"/>
          <p:nvPr/>
        </p:nvSpPr>
        <p:spPr>
          <a:xfrm>
            <a:off x="8980800" y="6737671"/>
            <a:ext cx="59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323" name="Google Shape;323;p36"/>
          <p:cNvGraphicFramePr/>
          <p:nvPr/>
        </p:nvGraphicFramePr>
        <p:xfrm>
          <a:off x="259015" y="1759483"/>
          <a:ext cx="9235625" cy="4452375"/>
        </p:xfrm>
        <a:graphic>
          <a:graphicData uri="http://schemas.openxmlformats.org/drawingml/2006/table">
            <a:tbl>
              <a:tblPr>
                <a:noFill/>
                <a:tableStyleId>{30E3A1F8-AD97-440D-B95A-01DACDE85D6B}</a:tableStyleId>
              </a:tblPr>
              <a:tblGrid>
                <a:gridCol w="1235825"/>
                <a:gridCol w="499150"/>
                <a:gridCol w="955850"/>
                <a:gridCol w="955850"/>
                <a:gridCol w="955850"/>
                <a:gridCol w="955850"/>
                <a:gridCol w="955850"/>
                <a:gridCol w="955850"/>
                <a:gridCol w="955850"/>
                <a:gridCol w="809700"/>
              </a:tblGrid>
              <a:tr h="429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Semester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5th Semester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6th Semester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29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Task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Dec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Jan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Feb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March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April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May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Jun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Jul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Aug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9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Documentation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</a:tr>
              <a:tr h="525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Requirements Analysis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9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Design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9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Implementation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9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Test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9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Deployment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9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Maintenance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</a:tr>
              <a:tr h="490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Release 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76200" marR="76200" marT="76200" marB="76200" anchor="ctr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 txBox="1"/>
          <p:nvPr/>
        </p:nvSpPr>
        <p:spPr>
          <a:xfrm>
            <a:off x="176460" y="982447"/>
            <a:ext cx="1054694" cy="31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5" b="1" i="0" u="none" strike="noStrike" cap="none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ABSTRACT </a:t>
            </a:r>
            <a:endParaRPr lang="en-US" sz="1455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9" name="Google Shape;329;p37"/>
          <p:cNvSpPr txBox="1"/>
          <p:nvPr/>
        </p:nvSpPr>
        <p:spPr>
          <a:xfrm>
            <a:off x="8971275" y="6469375"/>
            <a:ext cx="92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30" name="Google Shape;330;p37"/>
          <p:cNvSpPr txBox="1"/>
          <p:nvPr/>
        </p:nvSpPr>
        <p:spPr>
          <a:xfrm>
            <a:off x="176450" y="949275"/>
            <a:ext cx="9398400" cy="6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[1] K. Saha et al., “Stress Detection from Social Media Using Machine Learning,” ACM, 2019.</a:t>
            </a:r>
            <a:endParaRPr sz="2000"/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[2] H. Lin et al., “User-Level Psychological Stress Detection from Social Media,” Proceedings of KDD, 2020.</a:t>
            </a:r>
            <a:endParaRPr sz="2000"/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[3] I. Shah, N. Sheth, D. Shah, V. Sawant, and S. Patil, "Mental Health Assistant Using Machine-Learning," Educational Administration: Theory and Practice, vol. 30, no. 4, pp. 10775–10781, 2024, doi: 10.53555/kuey.v30i4.8346.</a:t>
            </a:r>
            <a:endParaRPr sz="2000"/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[4] Y. Zhang et al., “Stress Detection from Text Using Machine Learning Models,” IEEE Access, 2021.</a:t>
            </a:r>
            <a:endParaRPr sz="2000"/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[5] M. A. Khan et al., “Mental Stress Detection Using Machine Learning Techniques: A Review,” IEEE Access, 2022.</a:t>
            </a:r>
            <a:endParaRPr sz="2000"/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2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31" name="Google Shape;331;p37"/>
          <p:cNvSpPr txBox="1"/>
          <p:nvPr/>
        </p:nvSpPr>
        <p:spPr>
          <a:xfrm>
            <a:off x="304800" y="425880"/>
            <a:ext cx="3090328" cy="54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REFERENCES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/>
          <p:nvPr/>
        </p:nvSpPr>
        <p:spPr>
          <a:xfrm>
            <a:off x="8953400" y="6857125"/>
            <a:ext cx="101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26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37" name="Google Shape;337;p38"/>
          <p:cNvSpPr txBox="1"/>
          <p:nvPr/>
        </p:nvSpPr>
        <p:spPr>
          <a:xfrm>
            <a:off x="501600" y="837925"/>
            <a:ext cx="8930100" cy="57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78790" marR="0" lvl="1" indent="-22542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9090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Admin. (n.d.). Mental Health App Development Guide in 2026. KMS Technology. Retrieved January 24, 2026, from </a:t>
            </a:r>
            <a:r>
              <a:rPr lang="en-US" sz="2000" b="0" i="0" u="sng" strike="noStrike" cap="none">
                <a:solidFill>
                  <a:schemeClr val="hlink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1"/>
              </a:rPr>
              <a:t>https://kms-technology.com/blog/the-complete-guide-to-mental-health-app-development-in-2026/</a:t>
            </a:r>
            <a:endParaRPr sz="2000"/>
          </a:p>
          <a:p>
            <a:pPr marL="478790" marR="0" lvl="1" indent="-22542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Jurafsky, &amp; Martin. (n.d.). Speech and Language Processing (3rd ed.). Bird et al.</a:t>
            </a:r>
            <a:endParaRPr sz="2000"/>
          </a:p>
          <a:p>
            <a:pPr marL="478790" marR="0" lvl="1" indent="-22542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Kelta, Z. (2024, Aug 8). Classification in Machine Learning. Data Camp. </a:t>
            </a:r>
            <a:r>
              <a:rPr lang="en-US" sz="2000" b="0" i="0" u="sng" strike="noStrike" cap="none">
                <a:solidFill>
                  <a:schemeClr val="hlink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2"/>
              </a:rPr>
              <a:t>https://www.datacamp.com/blog/classification-machine-learning</a:t>
            </a:r>
            <a:endParaRPr sz="2000"/>
          </a:p>
          <a:p>
            <a:pPr marL="478790" marR="0" lvl="1" indent="-225425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Admin. (2025, Aug 29). How Mental Health chatbot Handle stress. App Solutions. Retrieved 1 17, 2026, from https://theappsolutions.com/blog/development/mental-health-chatbots/</a:t>
            </a:r>
            <a:endParaRPr sz="2000"/>
          </a:p>
        </p:txBody>
      </p:sp>
      <p:sp>
        <p:nvSpPr>
          <p:cNvPr id="338" name="Google Shape;338;p38"/>
          <p:cNvSpPr txBox="1"/>
          <p:nvPr/>
        </p:nvSpPr>
        <p:spPr>
          <a:xfrm>
            <a:off x="457200" y="457200"/>
            <a:ext cx="3529875" cy="54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BIBLIOGRAPHY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9"/>
          <p:cNvSpPr/>
          <p:nvPr/>
        </p:nvSpPr>
        <p:spPr>
          <a:xfrm>
            <a:off x="1066800" y="1119140"/>
            <a:ext cx="4925497" cy="2607435"/>
          </a:xfrm>
          <a:custGeom>
            <a:avLst/>
            <a:gdLst/>
            <a:ahLst/>
            <a:cxnLst/>
            <a:rect l="l" t="t" r="r" b="b"/>
            <a:pathLst>
              <a:path w="4925497" h="2607435" extrusionOk="0">
                <a:moveTo>
                  <a:pt x="0" y="0"/>
                </a:moveTo>
                <a:lnTo>
                  <a:pt x="4925497" y="0"/>
                </a:lnTo>
                <a:lnTo>
                  <a:pt x="4925497" y="2607435"/>
                </a:lnTo>
                <a:lnTo>
                  <a:pt x="0" y="2607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344" name="Google Shape;344;p39"/>
          <p:cNvSpPr/>
          <p:nvPr/>
        </p:nvSpPr>
        <p:spPr>
          <a:xfrm>
            <a:off x="1102687" y="3886200"/>
            <a:ext cx="4889610" cy="3315697"/>
          </a:xfrm>
          <a:custGeom>
            <a:avLst/>
            <a:gdLst/>
            <a:ahLst/>
            <a:cxnLst/>
            <a:rect l="l" t="t" r="r" b="b"/>
            <a:pathLst>
              <a:path w="5256128" h="3391897" extrusionOk="0">
                <a:moveTo>
                  <a:pt x="0" y="0"/>
                </a:moveTo>
                <a:lnTo>
                  <a:pt x="5256128" y="0"/>
                </a:lnTo>
                <a:lnTo>
                  <a:pt x="5256128" y="3391897"/>
                </a:lnTo>
                <a:lnTo>
                  <a:pt x="0" y="3391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r="-8800"/>
            </a:stretch>
          </a:blipFill>
          <a:ln>
            <a:noFill/>
          </a:ln>
        </p:spPr>
      </p:sp>
      <p:sp>
        <p:nvSpPr>
          <p:cNvPr id="345" name="Google Shape;345;p39"/>
          <p:cNvSpPr txBox="1"/>
          <p:nvPr/>
        </p:nvSpPr>
        <p:spPr>
          <a:xfrm>
            <a:off x="8971275" y="6719770"/>
            <a:ext cx="78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27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46" name="Google Shape;346;p39"/>
          <p:cNvSpPr txBox="1"/>
          <p:nvPr/>
        </p:nvSpPr>
        <p:spPr>
          <a:xfrm>
            <a:off x="457200" y="226989"/>
            <a:ext cx="3792042" cy="54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SCREENSHOTS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6653568" y="2980180"/>
            <a:ext cx="2185632" cy="32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Figure: Dashboard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48" name="Google Shape;348;p39"/>
          <p:cNvSpPr txBox="1"/>
          <p:nvPr/>
        </p:nvSpPr>
        <p:spPr>
          <a:xfrm>
            <a:off x="6653567" y="5396355"/>
            <a:ext cx="2317707" cy="32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Figure: Journal page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"/>
          <p:cNvSpPr/>
          <p:nvPr/>
        </p:nvSpPr>
        <p:spPr>
          <a:xfrm>
            <a:off x="689134" y="936254"/>
            <a:ext cx="4721066" cy="2721346"/>
          </a:xfrm>
          <a:custGeom>
            <a:avLst/>
            <a:gdLst/>
            <a:ahLst/>
            <a:cxnLst/>
            <a:rect l="l" t="t" r="r" b="b"/>
            <a:pathLst>
              <a:path w="5243468" h="3110032" extrusionOk="0">
                <a:moveTo>
                  <a:pt x="0" y="0"/>
                </a:moveTo>
                <a:lnTo>
                  <a:pt x="5243468" y="0"/>
                </a:lnTo>
                <a:lnTo>
                  <a:pt x="5243468" y="3110032"/>
                </a:lnTo>
                <a:lnTo>
                  <a:pt x="0" y="3110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354" name="Google Shape;354;p40"/>
          <p:cNvSpPr/>
          <p:nvPr/>
        </p:nvSpPr>
        <p:spPr>
          <a:xfrm>
            <a:off x="689134" y="4038600"/>
            <a:ext cx="4721066" cy="2964225"/>
          </a:xfrm>
          <a:custGeom>
            <a:avLst/>
            <a:gdLst/>
            <a:ahLst/>
            <a:cxnLst/>
            <a:rect l="l" t="t" r="r" b="b"/>
            <a:pathLst>
              <a:path w="5285854" h="3166973" extrusionOk="0">
                <a:moveTo>
                  <a:pt x="0" y="0"/>
                </a:moveTo>
                <a:lnTo>
                  <a:pt x="5285854" y="0"/>
                </a:lnTo>
                <a:lnTo>
                  <a:pt x="5285854" y="3166973"/>
                </a:lnTo>
                <a:lnTo>
                  <a:pt x="0" y="3166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r="-801"/>
            </a:stretch>
          </a:blipFill>
          <a:ln>
            <a:noFill/>
          </a:ln>
        </p:spPr>
      </p:sp>
      <p:sp>
        <p:nvSpPr>
          <p:cNvPr id="355" name="Google Shape;355;p40"/>
          <p:cNvSpPr txBox="1"/>
          <p:nvPr/>
        </p:nvSpPr>
        <p:spPr>
          <a:xfrm>
            <a:off x="5715001" y="6224905"/>
            <a:ext cx="3307080" cy="32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Figure: Help and support page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9022066" y="6628496"/>
            <a:ext cx="73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28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57" name="Google Shape;357;p40"/>
          <p:cNvSpPr txBox="1"/>
          <p:nvPr/>
        </p:nvSpPr>
        <p:spPr>
          <a:xfrm>
            <a:off x="533400" y="204195"/>
            <a:ext cx="3792042" cy="54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SCREENSHOTS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/>
          <p:nvPr/>
        </p:nvSpPr>
        <p:spPr>
          <a:xfrm>
            <a:off x="731520" y="1131327"/>
            <a:ext cx="4907280" cy="2480427"/>
          </a:xfrm>
          <a:custGeom>
            <a:avLst/>
            <a:gdLst/>
            <a:ahLst/>
            <a:cxnLst/>
            <a:rect l="l" t="t" r="r" b="b"/>
            <a:pathLst>
              <a:path w="5296344" h="2815707" extrusionOk="0">
                <a:moveTo>
                  <a:pt x="0" y="0"/>
                </a:moveTo>
                <a:lnTo>
                  <a:pt x="5296344" y="0"/>
                </a:lnTo>
                <a:lnTo>
                  <a:pt x="5296344" y="2815707"/>
                </a:lnTo>
                <a:lnTo>
                  <a:pt x="0" y="2815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 t="-5548" b="-5548"/>
            </a:stretch>
          </a:blipFill>
          <a:ln>
            <a:noFill/>
          </a:ln>
        </p:spPr>
      </p:sp>
      <p:sp>
        <p:nvSpPr>
          <p:cNvPr id="363" name="Google Shape;363;p41"/>
          <p:cNvSpPr/>
          <p:nvPr/>
        </p:nvSpPr>
        <p:spPr>
          <a:xfrm>
            <a:off x="731520" y="3836987"/>
            <a:ext cx="4907280" cy="3120903"/>
          </a:xfrm>
          <a:custGeom>
            <a:avLst/>
            <a:gdLst/>
            <a:ahLst/>
            <a:cxnLst/>
            <a:rect l="l" t="t" r="r" b="b"/>
            <a:pathLst>
              <a:path w="5296344" h="3209745" extrusionOk="0">
                <a:moveTo>
                  <a:pt x="0" y="0"/>
                </a:moveTo>
                <a:lnTo>
                  <a:pt x="5296344" y="0"/>
                </a:lnTo>
                <a:lnTo>
                  <a:pt x="5296344" y="3209745"/>
                </a:lnTo>
                <a:lnTo>
                  <a:pt x="0" y="320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t="-966" r="-4925" b="-966"/>
            </a:stretch>
          </a:blipFill>
          <a:ln>
            <a:noFill/>
          </a:ln>
        </p:spPr>
      </p:sp>
      <p:sp>
        <p:nvSpPr>
          <p:cNvPr id="364" name="Google Shape;364;p41"/>
          <p:cNvSpPr txBox="1"/>
          <p:nvPr/>
        </p:nvSpPr>
        <p:spPr>
          <a:xfrm>
            <a:off x="5867400" y="3238519"/>
            <a:ext cx="2974244" cy="32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Figure: Analytics page 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65" name="Google Shape;365;p41"/>
          <p:cNvSpPr txBox="1"/>
          <p:nvPr/>
        </p:nvSpPr>
        <p:spPr>
          <a:xfrm>
            <a:off x="6705600" y="6392887"/>
            <a:ext cx="2362200" cy="32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Figure: Settings page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66" name="Google Shape;366;p41"/>
          <p:cNvSpPr txBox="1"/>
          <p:nvPr/>
        </p:nvSpPr>
        <p:spPr>
          <a:xfrm>
            <a:off x="9022065" y="6628497"/>
            <a:ext cx="73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29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67" name="Google Shape;367;p41"/>
          <p:cNvSpPr txBox="1"/>
          <p:nvPr/>
        </p:nvSpPr>
        <p:spPr>
          <a:xfrm>
            <a:off x="457200" y="206372"/>
            <a:ext cx="3792042" cy="54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SCREENSHOTS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"/>
          <p:cNvSpPr/>
          <p:nvPr/>
        </p:nvSpPr>
        <p:spPr>
          <a:xfrm>
            <a:off x="469742" y="3962400"/>
            <a:ext cx="4940458" cy="2995490"/>
          </a:xfrm>
          <a:custGeom>
            <a:avLst/>
            <a:gdLst/>
            <a:ahLst/>
            <a:cxnLst/>
            <a:rect l="l" t="t" r="r" b="b"/>
            <a:pathLst>
              <a:path w="5085730" h="3019652" extrusionOk="0">
                <a:moveTo>
                  <a:pt x="0" y="0"/>
                </a:moveTo>
                <a:lnTo>
                  <a:pt x="5085730" y="0"/>
                </a:lnTo>
                <a:lnTo>
                  <a:pt x="5085730" y="3019652"/>
                </a:lnTo>
                <a:lnTo>
                  <a:pt x="0" y="3019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373" name="Google Shape;373;p42"/>
          <p:cNvSpPr/>
          <p:nvPr/>
        </p:nvSpPr>
        <p:spPr>
          <a:xfrm>
            <a:off x="469742" y="1066800"/>
            <a:ext cx="4940458" cy="2711673"/>
          </a:xfrm>
          <a:custGeom>
            <a:avLst/>
            <a:gdLst/>
            <a:ahLst/>
            <a:cxnLst/>
            <a:rect l="l" t="t" r="r" b="b"/>
            <a:pathLst>
              <a:path w="5085730" h="3016473" extrusionOk="0">
                <a:moveTo>
                  <a:pt x="0" y="0"/>
                </a:moveTo>
                <a:lnTo>
                  <a:pt x="5085730" y="0"/>
                </a:lnTo>
                <a:lnTo>
                  <a:pt x="5085730" y="3016473"/>
                </a:lnTo>
                <a:lnTo>
                  <a:pt x="0" y="3016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374" name="Google Shape;374;p42"/>
          <p:cNvSpPr txBox="1"/>
          <p:nvPr/>
        </p:nvSpPr>
        <p:spPr>
          <a:xfrm>
            <a:off x="5867400" y="3200400"/>
            <a:ext cx="3154680" cy="32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Figure: Meditation page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75" name="Google Shape;375;p42"/>
          <p:cNvSpPr txBox="1"/>
          <p:nvPr/>
        </p:nvSpPr>
        <p:spPr>
          <a:xfrm>
            <a:off x="6140155" y="6224905"/>
            <a:ext cx="2927645" cy="32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Figure: Breathing Exercise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76" name="Google Shape;376;p42"/>
          <p:cNvSpPr txBox="1"/>
          <p:nvPr/>
        </p:nvSpPr>
        <p:spPr>
          <a:xfrm>
            <a:off x="9022077" y="6628501"/>
            <a:ext cx="80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77" name="Google Shape;377;p42"/>
          <p:cNvSpPr txBox="1"/>
          <p:nvPr/>
        </p:nvSpPr>
        <p:spPr>
          <a:xfrm>
            <a:off x="381000" y="228600"/>
            <a:ext cx="3792042" cy="54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SCREENSHOTS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603131" y="4267200"/>
            <a:ext cx="6231723" cy="2895714"/>
          </a:xfrm>
          <a:custGeom>
            <a:avLst/>
            <a:gdLst/>
            <a:ahLst/>
            <a:cxnLst/>
            <a:rect l="l" t="t" r="r" b="b"/>
            <a:pathLst>
              <a:path w="6231723" h="2895714" extrusionOk="0">
                <a:moveTo>
                  <a:pt x="0" y="0"/>
                </a:moveTo>
                <a:lnTo>
                  <a:pt x="6231723" y="0"/>
                </a:lnTo>
                <a:lnTo>
                  <a:pt x="6231723" y="2895714"/>
                </a:lnTo>
                <a:lnTo>
                  <a:pt x="0" y="2895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 t="-11151" r="-4064" b="-14759"/>
            </a:stretch>
          </a:blipFill>
          <a:ln>
            <a:noFill/>
          </a:ln>
        </p:spPr>
      </p:sp>
      <p:sp>
        <p:nvSpPr>
          <p:cNvPr id="383" name="Google Shape;383;p43"/>
          <p:cNvSpPr/>
          <p:nvPr/>
        </p:nvSpPr>
        <p:spPr>
          <a:xfrm>
            <a:off x="624049" y="1174090"/>
            <a:ext cx="6231723" cy="2664689"/>
          </a:xfrm>
          <a:custGeom>
            <a:avLst/>
            <a:gdLst/>
            <a:ahLst/>
            <a:cxnLst/>
            <a:rect l="l" t="t" r="r" b="b"/>
            <a:pathLst>
              <a:path w="6231723" h="2664689" extrusionOk="0">
                <a:moveTo>
                  <a:pt x="0" y="0"/>
                </a:moveTo>
                <a:lnTo>
                  <a:pt x="6231723" y="0"/>
                </a:lnTo>
                <a:lnTo>
                  <a:pt x="6231723" y="2664689"/>
                </a:lnTo>
                <a:lnTo>
                  <a:pt x="0" y="266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t="-9338" r="-2246" b="-25098"/>
            </a:stretch>
          </a:blipFill>
          <a:ln>
            <a:noFill/>
          </a:ln>
        </p:spPr>
      </p:sp>
      <p:sp>
        <p:nvSpPr>
          <p:cNvPr id="384" name="Google Shape;384;p43"/>
          <p:cNvSpPr txBox="1"/>
          <p:nvPr/>
        </p:nvSpPr>
        <p:spPr>
          <a:xfrm>
            <a:off x="7010400" y="5995235"/>
            <a:ext cx="2563336" cy="688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Figure: MongoDB Implementation</a:t>
            </a:r>
            <a:endParaRPr lang="en-US" sz="20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85" name="Google Shape;385;p43"/>
          <p:cNvSpPr txBox="1"/>
          <p:nvPr/>
        </p:nvSpPr>
        <p:spPr>
          <a:xfrm>
            <a:off x="9187811" y="6771695"/>
            <a:ext cx="65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304800" y="381000"/>
            <a:ext cx="3792042" cy="54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SCREENSHOTS</a:t>
            </a:r>
            <a:endParaRPr lang="en-US" sz="33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/>
          <p:nvPr/>
        </p:nvSpPr>
        <p:spPr>
          <a:xfrm>
            <a:off x="2926080" y="3295831"/>
            <a:ext cx="3901440" cy="723538"/>
          </a:xfrm>
          <a:custGeom>
            <a:avLst/>
            <a:gdLst/>
            <a:ahLst/>
            <a:cxnLst/>
            <a:rect l="l" t="t" r="r" b="b"/>
            <a:pathLst>
              <a:path w="3901440" h="723538" extrusionOk="0">
                <a:moveTo>
                  <a:pt x="0" y="0"/>
                </a:moveTo>
                <a:lnTo>
                  <a:pt x="3901440" y="0"/>
                </a:lnTo>
                <a:lnTo>
                  <a:pt x="3901440" y="723538"/>
                </a:lnTo>
                <a:lnTo>
                  <a:pt x="0" y="7235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 t="-633" b="-634"/>
            </a:stretch>
          </a:blipFill>
          <a:ln>
            <a:noFill/>
          </a:ln>
        </p:spPr>
      </p:sp>
      <p:sp>
        <p:nvSpPr>
          <p:cNvPr id="392" name="Google Shape;392;p44"/>
          <p:cNvSpPr txBox="1"/>
          <p:nvPr/>
        </p:nvSpPr>
        <p:spPr>
          <a:xfrm>
            <a:off x="8970035" y="6469380"/>
            <a:ext cx="256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endParaRPr lang="en-US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12004</Words>
  <Application>WPS Presentation</Application>
  <PresentationFormat/>
  <Paragraphs>870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Arial</vt:lpstr>
      <vt:lpstr>SimSun</vt:lpstr>
      <vt:lpstr>Wingdings</vt:lpstr>
      <vt:lpstr>Arial</vt:lpstr>
      <vt:lpstr>Calibri</vt:lpstr>
      <vt:lpstr>Times New Roman</vt:lpstr>
      <vt:lpstr>Times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Anushesh ghimire</cp:lastModifiedBy>
  <cp:revision>3</cp:revision>
  <dcterms:created xsi:type="dcterms:W3CDTF">2026-06-28T14:14:00Z</dcterms:created>
  <dcterms:modified xsi:type="dcterms:W3CDTF">2026-06-28T14:15:53Z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DEAC5008A0374585A68E3CA3358ABE72_13</vt:lpwstr>
  </property>
</Properties>
</file>